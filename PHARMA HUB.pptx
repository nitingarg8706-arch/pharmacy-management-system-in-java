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Untitled Section" id="{ECD41083-562B-446D-8848-62C67ACBA08D}">
          <p14:sldIdLst>
            <p14:sldId id="256"/>
            <p14:sldId id="257"/>
            <p14:sldId id="258"/>
            <p14:sldId id="259"/>
            <p14:sldId id="260"/>
            <p14:sldId id="261"/>
            <p14:sldId id="262"/>
            <p14:sldId id="263"/>
            <p14:sldId id="264"/>
            <p14:sldId id="265"/>
            <p14:sldId id="266"/>
            <p14:sldId id="267"/>
            <p14:sldId id="268"/>
            <p14:sldId id="26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dandeep singh" initials="Cs" lastIdx="1" clrIdx="0">
    <p:extLst>
      <p:ext uri="{19B8F6BF-5375-455C-9EA6-DF929625EA0E}">
        <p15:presenceInfo xmlns="" xmlns:p15="http://schemas.microsoft.com/office/powerpoint/2012/main" userId="e93791cd7e27e21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2" d="100"/>
          <a:sy n="62" d="100"/>
        </p:scale>
        <p:origin x="-1020" y="-1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6AABE5-728A-C7FD-ADB5-A8FA7EF8DA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7EF1678B-3D6D-FCAF-93DE-F571ED4CFD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6E40431D-5F30-1119-BFCB-34F272BE78AA}"/>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597E61B0-88F5-507E-DF48-6DFEE3E946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9C699F5-3EA7-4B8F-27EB-36BA0BA9D024}"/>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1202310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81B8E4-6452-DC6A-E4F3-B6BC5A2872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5C640DA-4BCE-2DE8-7C7B-C661091B6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87B2A88-653F-C326-EF5F-9D18255796AC}"/>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A74797CA-F188-46CF-EE66-AE4BEF635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7176F515-11B0-7BFF-58E1-1076D33DB21F}"/>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1307286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CCEB66-A3D6-F971-3D15-8F6BF85E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4F8FFE2-D6CC-FEE5-FB28-8777C4798C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F98E40A7-8AC1-4D2D-4243-47B573C47D7A}"/>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607E314B-ED58-B904-23AD-68DC5B05BB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40B969C-06ED-03F3-1066-389C444B57CE}"/>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4022271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54D34E-179C-D475-89D6-508F5A0C99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7368E73-7E46-415C-9BDF-1DE18885CC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CA06983E-D201-B14B-9B22-21AEB8F4A7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46C0DE31-4BFE-47E4-DEBF-D4C054C410BC}"/>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6" name="Footer Placeholder 5">
            <a:extLst>
              <a:ext uri="{FF2B5EF4-FFF2-40B4-BE49-F238E27FC236}">
                <a16:creationId xmlns="" xmlns:a16="http://schemas.microsoft.com/office/drawing/2014/main" id="{3CDCF288-C24E-1E63-6083-742092CB32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6190203-600D-5B38-9DA5-7874D10ED941}"/>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184791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2A5708-898D-3A48-4996-904FC5F2AD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D2935B3-BA66-28FF-E91B-FF0FB545F4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9EDFDDA-73D9-DF95-DFDB-6376F3BE4E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4F548C3F-7C34-C997-65A7-E07DD1230F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2CF8720-6DAB-F1C7-4D5B-EF759D396B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7BE32AF8-6818-5EBE-E624-7C73C5805FCC}"/>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8" name="Footer Placeholder 7">
            <a:extLst>
              <a:ext uri="{FF2B5EF4-FFF2-40B4-BE49-F238E27FC236}">
                <a16:creationId xmlns="" xmlns:a16="http://schemas.microsoft.com/office/drawing/2014/main" id="{9801BB4E-175E-3D91-EA24-200868C730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46C8D216-F01C-0E78-A8F1-BFA8F7681EFD}"/>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1931807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0974BA-FBEE-5762-9E3D-7C203C288F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C746E41-19D5-8A82-F7A8-B05F4DFC0BA7}"/>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4" name="Footer Placeholder 3">
            <a:extLst>
              <a:ext uri="{FF2B5EF4-FFF2-40B4-BE49-F238E27FC236}">
                <a16:creationId xmlns="" xmlns:a16="http://schemas.microsoft.com/office/drawing/2014/main" id="{C7E82097-9A16-A3F4-249B-B20F0E8B0F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22F4EC12-619D-EEE2-8ADC-BA4238FD36C4}"/>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79788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E0A53E5-FED1-5F55-AFC4-62B13AD1E4DB}"/>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3" name="Footer Placeholder 2">
            <a:extLst>
              <a:ext uri="{FF2B5EF4-FFF2-40B4-BE49-F238E27FC236}">
                <a16:creationId xmlns="" xmlns:a16="http://schemas.microsoft.com/office/drawing/2014/main" id="{2789D2E5-2BCD-8242-57AD-15CC83401F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8949662C-8D11-5B2B-4A24-8D5D88149CC6}"/>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161064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2E6EC6-0347-7480-9486-BA85EFD7A9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4692F8D-D352-9BB7-9CDA-FE70796B15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79B2FCE4-E6D5-20EF-CF3B-7B6A8D7F6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71D9766-740E-4E19-94B8-B0A1E1F2AB61}"/>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6" name="Footer Placeholder 5">
            <a:extLst>
              <a:ext uri="{FF2B5EF4-FFF2-40B4-BE49-F238E27FC236}">
                <a16:creationId xmlns="" xmlns:a16="http://schemas.microsoft.com/office/drawing/2014/main" id="{5855B9BC-7AB5-724C-3BE4-314344BE3C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09B69E1-E9FA-35DF-5266-985B1076F1AC}"/>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2378005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7E2A2D-7F00-300D-18FB-C70137462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AECAC76C-25A0-88F1-29DE-A26F58206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0F03A79-C7B0-6FA0-6D31-2F50BF2C1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2425AE0-E5BF-FB3E-B848-BD421EF8D662}"/>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6" name="Footer Placeholder 5">
            <a:extLst>
              <a:ext uri="{FF2B5EF4-FFF2-40B4-BE49-F238E27FC236}">
                <a16:creationId xmlns="" xmlns:a16="http://schemas.microsoft.com/office/drawing/2014/main" id="{7E89165E-EF7E-B773-01A9-CEF558C714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24002E6-A075-62B6-2DE4-9AB7AD17E970}"/>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35642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BE7EBE-7D7A-4201-155F-C84B82EFF6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55BBBAC-4318-B0EA-EC0B-D6C97B5F73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C579568-10D5-084F-85CE-3B2D4846B27B}"/>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F8D5D917-14D6-AE61-A77E-F5EF5B7FB3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EFC6CA4-402F-CA51-C713-9234B38968B8}"/>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2124472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A4C6287-539D-52A1-1362-B568EF88CC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F404E33-36B6-59FE-A823-CBB2F7C00B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817E2EC-E9FE-C1FB-BD00-9936D80909D3}"/>
              </a:ext>
            </a:extLst>
          </p:cNvPr>
          <p:cNvSpPr>
            <a:spLocks noGrp="1"/>
          </p:cNvSpPr>
          <p:nvPr>
            <p:ph type="dt" sz="half" idx="10"/>
          </p:nvPr>
        </p:nvSpPr>
        <p:spPr/>
        <p:txBody>
          <a:body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5C92D628-813D-C66F-1B8A-8E7730DF0C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C51E7D1-E420-68C0-4410-676D5898557F}"/>
              </a:ext>
            </a:extLst>
          </p:cNvPr>
          <p:cNvSpPr>
            <a:spLocks noGrp="1"/>
          </p:cNvSpPr>
          <p:nvPr>
            <p:ph type="sldNum" sz="quarter" idx="12"/>
          </p:nvPr>
        </p:nvSpPr>
        <p:spPr/>
        <p:txBody>
          <a:body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63822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411F3B0-1F65-406B-DFC4-74DCF49403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DD86ECB-C974-2063-D8D7-2AAE34E94F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5FE5D13-27F3-1444-9160-C9678FA5A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946342-878B-4FAC-979E-6DD9BC12C7A4}" type="datetimeFigureOut">
              <a:rPr lang="en-IN" smtClean="0"/>
              <a:pPr/>
              <a:t>24-11-2025</a:t>
            </a:fld>
            <a:endParaRPr lang="en-IN"/>
          </a:p>
        </p:txBody>
      </p:sp>
      <p:sp>
        <p:nvSpPr>
          <p:cNvPr id="5" name="Footer Placeholder 4">
            <a:extLst>
              <a:ext uri="{FF2B5EF4-FFF2-40B4-BE49-F238E27FC236}">
                <a16:creationId xmlns="" xmlns:a16="http://schemas.microsoft.com/office/drawing/2014/main" id="{C81F3FD1-2792-C792-DFEE-47677731F1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7D768891-4DBA-C332-7D41-7CFA5F728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A357F-EE5D-448C-995F-969CB7F621FA}" type="slidenum">
              <a:rPr lang="en-IN" smtClean="0"/>
              <a:pPr/>
              <a:t>‹#›</a:t>
            </a:fld>
            <a:endParaRPr lang="en-IN"/>
          </a:p>
        </p:txBody>
      </p:sp>
    </p:spTree>
    <p:extLst>
      <p:ext uri="{BB962C8B-B14F-4D97-AF65-F5344CB8AC3E}">
        <p14:creationId xmlns="" xmlns:p14="http://schemas.microsoft.com/office/powerpoint/2010/main" val="3467818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CCB8B7-A98D-5D39-9B02-23DE33B8D966}"/>
              </a:ext>
            </a:extLst>
          </p:cNvPr>
          <p:cNvSpPr>
            <a:spLocks noGrp="1"/>
          </p:cNvSpPr>
          <p:nvPr>
            <p:ph type="ctrTitle"/>
          </p:nvPr>
        </p:nvSpPr>
        <p:spPr>
          <a:xfrm>
            <a:off x="1572767" y="1557975"/>
            <a:ext cx="9144000" cy="955497"/>
          </a:xfrm>
        </p:spPr>
        <p:txBody>
          <a:bodyPr>
            <a:normAutofit/>
          </a:bodyPr>
          <a:lstStyle/>
          <a:p>
            <a:r>
              <a:rPr lang="en-US" sz="4000" dirty="0">
                <a:latin typeface="Times New Roman" panose="02020603050405020304" pitchFamily="18" charset="0"/>
                <a:cs typeface="Times New Roman" panose="02020603050405020304" pitchFamily="18" charset="0"/>
              </a:rPr>
              <a:t>PHARMA HUB</a:t>
            </a:r>
            <a:endParaRPr lang="en-IN" sz="4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 xmlns:a16="http://schemas.microsoft.com/office/drawing/2014/main" id="{50FC0C49-411B-CD72-F52C-01592BEEAA97}"/>
              </a:ext>
            </a:extLst>
          </p:cNvPr>
          <p:cNvSpPr/>
          <p:nvPr/>
        </p:nvSpPr>
        <p:spPr>
          <a:xfrm>
            <a:off x="3196333" y="0"/>
            <a:ext cx="5799334"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PROJECT REPORT  </a:t>
            </a:r>
            <a:endParaRPr lang="en-IN" sz="4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CB045F50-6E22-6B1F-0EDC-CC78E66E9DDF}"/>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22950" y="153887"/>
            <a:ext cx="1574800" cy="1579245"/>
          </a:xfrm>
          <a:prstGeom prst="rect">
            <a:avLst/>
          </a:prstGeom>
        </p:spPr>
      </p:pic>
      <p:pic>
        <p:nvPicPr>
          <p:cNvPr id="6" name="Picture 5">
            <a:extLst>
              <a:ext uri="{FF2B5EF4-FFF2-40B4-BE49-F238E27FC236}">
                <a16:creationId xmlns="" xmlns:a16="http://schemas.microsoft.com/office/drawing/2014/main" id="{65F30A05-21FA-AD39-F18C-404B1E620B57}"/>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491783" y="153887"/>
            <a:ext cx="1574800" cy="1579245"/>
          </a:xfrm>
          <a:prstGeom prst="rect">
            <a:avLst/>
          </a:prstGeom>
        </p:spPr>
      </p:pic>
      <p:sp>
        <p:nvSpPr>
          <p:cNvPr id="11" name="Rectangle 10">
            <a:extLst>
              <a:ext uri="{FF2B5EF4-FFF2-40B4-BE49-F238E27FC236}">
                <a16:creationId xmlns="" xmlns:a16="http://schemas.microsoft.com/office/drawing/2014/main" id="{D39E8F2C-B625-E748-590E-B5BADBF20DF6}"/>
              </a:ext>
            </a:extLst>
          </p:cNvPr>
          <p:cNvSpPr/>
          <p:nvPr/>
        </p:nvSpPr>
        <p:spPr>
          <a:xfrm>
            <a:off x="3089523" y="2796368"/>
            <a:ext cx="5384943" cy="194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marR="228600" algn="ctr">
              <a:lnSpc>
                <a:spcPct val="115000"/>
              </a:lnSpc>
              <a:spcBef>
                <a:spcPts val="100"/>
              </a:spcBef>
              <a:spcAft>
                <a:spcPts val="100"/>
              </a:spcAft>
            </a:pP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Submitted in Project</a:t>
            </a:r>
            <a:r>
              <a:rPr lang="en-US" b="1" dirty="0">
                <a:solidFill>
                  <a:schemeClr val="tx1"/>
                </a:solidFill>
                <a:latin typeface="Times New Roman" panose="02020603050405020304" pitchFamily="18" charset="0"/>
                <a:ea typeface="Times New Roman" panose="02020603050405020304" pitchFamily="18" charset="0"/>
                <a:cs typeface="Raavi" panose="020B0502040204020203" pitchFamily="34" charset="0"/>
              </a:rPr>
              <a:t> of  B</a:t>
            </a: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 Tech  </a:t>
            </a:r>
          </a:p>
          <a:p>
            <a:pPr marL="685800" marR="228600" algn="ctr">
              <a:lnSpc>
                <a:spcPct val="115000"/>
              </a:lnSpc>
              <a:spcBef>
                <a:spcPts val="100"/>
              </a:spcBef>
              <a:spcAft>
                <a:spcPts val="100"/>
              </a:spcAft>
            </a:pP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in </a:t>
            </a:r>
          </a:p>
          <a:p>
            <a:pPr marL="685800" marR="228600" algn="ctr">
              <a:lnSpc>
                <a:spcPct val="115000"/>
              </a:lnSpc>
              <a:spcBef>
                <a:spcPts val="100"/>
              </a:spcBef>
              <a:spcAft>
                <a:spcPts val="100"/>
              </a:spcAft>
            </a:pP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Computer Science Engineering </a:t>
            </a:r>
          </a:p>
          <a:p>
            <a:pPr marL="685800" marR="228600" algn="ctr">
              <a:lnSpc>
                <a:spcPct val="115000"/>
              </a:lnSpc>
              <a:spcBef>
                <a:spcPts val="100"/>
              </a:spcBef>
              <a:spcAft>
                <a:spcPts val="100"/>
              </a:spcAft>
            </a:pP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under </a:t>
            </a:r>
            <a:endParaRPr lang="en-IN" sz="1800" dirty="0">
              <a:solidFill>
                <a:schemeClr val="tx1"/>
              </a:solidFill>
              <a:effectLst/>
              <a:latin typeface="Calibri" panose="020F0502020204030204" pitchFamily="34" charset="0"/>
              <a:ea typeface="Times New Roman" panose="02020603050405020304" pitchFamily="18" charset="0"/>
              <a:cs typeface="Raavi" panose="020B0502040204020203" pitchFamily="34" charset="0"/>
            </a:endParaRPr>
          </a:p>
          <a:p>
            <a:pPr marL="685800" marR="228600" algn="ctr">
              <a:lnSpc>
                <a:spcPct val="115000"/>
              </a:lnSpc>
              <a:spcBef>
                <a:spcPts val="100"/>
              </a:spcBef>
              <a:spcAft>
                <a:spcPts val="100"/>
              </a:spcAft>
            </a:pPr>
            <a:r>
              <a:rPr lang="en-US" sz="1800" b="1" dirty="0">
                <a:solidFill>
                  <a:schemeClr val="tx1"/>
                </a:solidFill>
                <a:effectLst/>
                <a:latin typeface="Times New Roman" panose="02020603050405020304" pitchFamily="18" charset="0"/>
                <a:ea typeface="Times New Roman" panose="02020603050405020304" pitchFamily="18" charset="0"/>
                <a:cs typeface="Raavi" panose="020B0502040204020203" pitchFamily="34" charset="0"/>
              </a:rPr>
              <a:t>Punjabi University, Patiala</a:t>
            </a:r>
            <a:endParaRPr lang="en-IN" sz="1800" dirty="0">
              <a:solidFill>
                <a:schemeClr val="tx1"/>
              </a:solidFill>
              <a:effectLst/>
              <a:latin typeface="Calibri" panose="020F0502020204030204" pitchFamily="34" charset="0"/>
              <a:ea typeface="Times New Roman" panose="02020603050405020304" pitchFamily="18" charset="0"/>
              <a:cs typeface="Raavi" panose="020B0502040204020203" pitchFamily="34" charset="0"/>
            </a:endParaRPr>
          </a:p>
          <a:p>
            <a:pPr algn="ctr"/>
            <a:endParaRPr lang="en-IN" dirty="0">
              <a:solidFill>
                <a:schemeClr val="tx1"/>
              </a:solidFill>
            </a:endParaRPr>
          </a:p>
        </p:txBody>
      </p:sp>
      <p:sp>
        <p:nvSpPr>
          <p:cNvPr id="13" name="Subtitle 2">
            <a:extLst>
              <a:ext uri="{FF2B5EF4-FFF2-40B4-BE49-F238E27FC236}">
                <a16:creationId xmlns="" xmlns:a16="http://schemas.microsoft.com/office/drawing/2014/main" id="{6C690B68-BE8F-74D1-59E2-DBE6F8AAE5AE}"/>
              </a:ext>
            </a:extLst>
          </p:cNvPr>
          <p:cNvSpPr txBox="1">
            <a:spLocks/>
          </p:cNvSpPr>
          <p:nvPr/>
        </p:nvSpPr>
        <p:spPr>
          <a:xfrm>
            <a:off x="4436723" y="5020404"/>
            <a:ext cx="3318554" cy="1655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Times New Roman" panose="02020603050405020304" pitchFamily="18" charset="0"/>
                <a:cs typeface="Times New Roman" panose="02020603050405020304" pitchFamily="18" charset="0"/>
              </a:rPr>
              <a:t>Submitted by </a:t>
            </a:r>
          </a:p>
          <a:p>
            <a:pPr marL="0" indent="0" algn="ctr">
              <a:buNone/>
            </a:pPr>
            <a:r>
              <a:rPr lang="en-US" b="1" dirty="0">
                <a:latin typeface="Times New Roman" panose="02020603050405020304" pitchFamily="18" charset="0"/>
                <a:cs typeface="Times New Roman" panose="02020603050405020304" pitchFamily="18" charset="0"/>
              </a:rPr>
              <a:t>Nitin Garg </a:t>
            </a:r>
          </a:p>
          <a:p>
            <a:pPr marL="0" indent="0" algn="ctr">
              <a:buNone/>
            </a:pPr>
            <a:r>
              <a:rPr lang="en-US" b="1" dirty="0">
                <a:latin typeface="Times New Roman" panose="02020603050405020304" pitchFamily="18" charset="0"/>
                <a:cs typeface="Times New Roman" panose="02020603050405020304" pitchFamily="18" charset="0"/>
              </a:rPr>
              <a:t>22301115</a:t>
            </a:r>
            <a:endParaRPr lang="en-IN"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 xmlns:a16="http://schemas.microsoft.com/office/drawing/2014/main" id="{295E30A3-8D5A-3AFC-EF51-2F4D7D69F5BD}"/>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05158" y="2796368"/>
            <a:ext cx="3152775" cy="3429000"/>
          </a:xfrm>
          <a:prstGeom prst="rect">
            <a:avLst/>
          </a:prstGeom>
        </p:spPr>
      </p:pic>
      <p:pic>
        <p:nvPicPr>
          <p:cNvPr id="16" name="Picture 15">
            <a:extLst>
              <a:ext uri="{FF2B5EF4-FFF2-40B4-BE49-F238E27FC236}">
                <a16:creationId xmlns="" xmlns:a16="http://schemas.microsoft.com/office/drawing/2014/main" id="{ECA7F51B-01AF-ED0F-8570-D64B9CBAD24C}"/>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791949" y="2796368"/>
            <a:ext cx="3152775" cy="3429000"/>
          </a:xfrm>
          <a:prstGeom prst="rect">
            <a:avLst/>
          </a:prstGeom>
        </p:spPr>
      </p:pic>
    </p:spTree>
    <p:extLst>
      <p:ext uri="{BB962C8B-B14F-4D97-AF65-F5344CB8AC3E}">
        <p14:creationId xmlns="" xmlns:p14="http://schemas.microsoft.com/office/powerpoint/2010/main" val="1587206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95DAA5FB-4D6A-2083-FF8B-A5B0681D8B69}"/>
              </a:ext>
            </a:extLst>
          </p:cNvPr>
          <p:cNvPicPr>
            <a:picLocks noChangeAspect="1"/>
          </p:cNvPicPr>
          <p:nvPr/>
        </p:nvPicPr>
        <p:blipFill>
          <a:blip r:embed="rId2" cstate="print"/>
          <a:stretch>
            <a:fillRect/>
          </a:stretch>
        </p:blipFill>
        <p:spPr>
          <a:xfrm>
            <a:off x="6874072" y="2298150"/>
            <a:ext cx="5058041" cy="3126604"/>
          </a:xfrm>
          <a:prstGeom prst="rect">
            <a:avLst/>
          </a:prstGeom>
        </p:spPr>
      </p:pic>
      <p:sp>
        <p:nvSpPr>
          <p:cNvPr id="3" name="Rectangle 2">
            <a:extLst>
              <a:ext uri="{FF2B5EF4-FFF2-40B4-BE49-F238E27FC236}">
                <a16:creationId xmlns="" xmlns:a16="http://schemas.microsoft.com/office/drawing/2014/main" id="{621C71C1-1268-C370-DE9D-60621BA893CB}"/>
              </a:ext>
            </a:extLst>
          </p:cNvPr>
          <p:cNvSpPr/>
          <p:nvPr/>
        </p:nvSpPr>
        <p:spPr>
          <a:xfrm>
            <a:off x="3196333" y="0"/>
            <a:ext cx="5799334"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LOGIN WINDOW</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C55B7842-7879-6F84-F3F7-BF51B3DE37F8}"/>
              </a:ext>
            </a:extLst>
          </p:cNvPr>
          <p:cNvSpPr txBox="1"/>
          <p:nvPr/>
        </p:nvSpPr>
        <p:spPr>
          <a:xfrm>
            <a:off x="654976" y="2298150"/>
            <a:ext cx="6097712" cy="2956387"/>
          </a:xfrm>
          <a:prstGeom prst="rect">
            <a:avLst/>
          </a:prstGeom>
          <a:noFill/>
        </p:spPr>
        <p:txBody>
          <a:bodyPr wrap="square">
            <a:spAutoFit/>
          </a:bodyPr>
          <a:lstStyle/>
          <a:p>
            <a:pPr>
              <a:lnSpc>
                <a:spcPct val="150000"/>
              </a:lnSpc>
            </a:pPr>
            <a:r>
              <a:rPr lang="en-IN" sz="1800" dirty="0">
                <a:effectLst/>
                <a:latin typeface="Times New Roman" panose="02020603050405020304" pitchFamily="18" charset="0"/>
                <a:ea typeface="Calibri" panose="020F0502020204030204" pitchFamily="34" charset="0"/>
              </a:rPr>
              <a:t>The Login Window class serves as the entry point to the system, ensuring that only authorized users can access the application. Two types of users are defined in the current version — the Admin and the Pharmacist. The admin user has full control over the system, including the ability to add new items to the inventory and modify existing records, while the pharmacist has limited access, restricted to viewing and billing operations.</a:t>
            </a:r>
            <a:endParaRPr lang="en-IN" dirty="0"/>
          </a:p>
        </p:txBody>
      </p:sp>
    </p:spTree>
    <p:extLst>
      <p:ext uri="{BB962C8B-B14F-4D97-AF65-F5344CB8AC3E}">
        <p14:creationId xmlns="" xmlns:p14="http://schemas.microsoft.com/office/powerpoint/2010/main" val="25796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95FE92EA-44CE-07A3-573F-4B524D7D2053}"/>
              </a:ext>
            </a:extLst>
          </p:cNvPr>
          <p:cNvPicPr>
            <a:picLocks noChangeAspect="1"/>
          </p:cNvPicPr>
          <p:nvPr/>
        </p:nvPicPr>
        <p:blipFill>
          <a:blip r:embed="rId2" cstate="print"/>
          <a:stretch>
            <a:fillRect/>
          </a:stretch>
        </p:blipFill>
        <p:spPr>
          <a:xfrm>
            <a:off x="7290107" y="1749039"/>
            <a:ext cx="4639310" cy="3976370"/>
          </a:xfrm>
          <a:prstGeom prst="rect">
            <a:avLst/>
          </a:prstGeom>
        </p:spPr>
      </p:pic>
      <p:sp>
        <p:nvSpPr>
          <p:cNvPr id="4" name="Rectangle 3">
            <a:extLst>
              <a:ext uri="{FF2B5EF4-FFF2-40B4-BE49-F238E27FC236}">
                <a16:creationId xmlns="" xmlns:a16="http://schemas.microsoft.com/office/drawing/2014/main" id="{8C839B25-AFC5-1DF3-0EED-24D12959D7F9}"/>
              </a:ext>
            </a:extLst>
          </p:cNvPr>
          <p:cNvSpPr/>
          <p:nvPr/>
        </p:nvSpPr>
        <p:spPr>
          <a:xfrm>
            <a:off x="893852" y="0"/>
            <a:ext cx="10479639"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MAIN MENU WINDOW</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6EDF87CE-BA4C-2F27-1986-3FA14EE92E59}"/>
              </a:ext>
            </a:extLst>
          </p:cNvPr>
          <p:cNvSpPr txBox="1"/>
          <p:nvPr/>
        </p:nvSpPr>
        <p:spPr>
          <a:xfrm>
            <a:off x="973476" y="2127825"/>
            <a:ext cx="6097712" cy="2956387"/>
          </a:xfrm>
          <a:prstGeom prst="rect">
            <a:avLst/>
          </a:prstGeom>
          <a:noFill/>
        </p:spPr>
        <p:txBody>
          <a:bodyPr wrap="square">
            <a:spAutoFit/>
          </a:bodyPr>
          <a:lstStyle/>
          <a:p>
            <a:pPr>
              <a:lnSpc>
                <a:spcPct val="150000"/>
              </a:lnSpc>
            </a:pPr>
            <a:r>
              <a:rPr lang="en-IN" sz="1800" dirty="0">
                <a:effectLst/>
                <a:latin typeface="Times New Roman" panose="02020603050405020304" pitchFamily="18" charset="0"/>
                <a:ea typeface="Calibri" panose="020F0502020204030204" pitchFamily="34" charset="0"/>
              </a:rPr>
              <a:t>The </a:t>
            </a:r>
            <a:r>
              <a:rPr lang="en-IN" sz="1800" dirty="0" err="1">
                <a:effectLst/>
                <a:latin typeface="Times New Roman" panose="02020603050405020304" pitchFamily="18" charset="0"/>
                <a:ea typeface="Calibri" panose="020F0502020204030204" pitchFamily="34" charset="0"/>
              </a:rPr>
              <a:t>MainMenuWindow</a:t>
            </a:r>
            <a:r>
              <a:rPr lang="en-IN" sz="1800" dirty="0">
                <a:effectLst/>
                <a:latin typeface="Times New Roman" panose="02020603050405020304" pitchFamily="18" charset="0"/>
                <a:ea typeface="Calibri" panose="020F0502020204030204" pitchFamily="34" charset="0"/>
              </a:rPr>
              <a:t> serves as the hub from which users can navigate to different functional areas of the application. It presents a clean and organized interface with large, easily accessible buttons for key operations — “View Inventory,” “Add Item,” “Create Bill,” and “Exit.”  When we can Login through Admin we can use Add Item but </a:t>
            </a:r>
            <a:r>
              <a:rPr lang="en-IN" dirty="0">
                <a:latin typeface="Times New Roman" panose="02020603050405020304" pitchFamily="18" charset="0"/>
                <a:ea typeface="Calibri" panose="020F0502020204030204" pitchFamily="34" charset="0"/>
              </a:rPr>
              <a:t>if we can Login through Pharmacist we cannot use Add Item button in it.</a:t>
            </a:r>
            <a:endParaRPr lang="en-IN" dirty="0"/>
          </a:p>
        </p:txBody>
      </p:sp>
    </p:spTree>
    <p:extLst>
      <p:ext uri="{BB962C8B-B14F-4D97-AF65-F5344CB8AC3E}">
        <p14:creationId xmlns="" xmlns:p14="http://schemas.microsoft.com/office/powerpoint/2010/main" val="345439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8F931B4B-1091-C027-4B98-E1891810FB68}"/>
              </a:ext>
            </a:extLst>
          </p:cNvPr>
          <p:cNvSpPr/>
          <p:nvPr/>
        </p:nvSpPr>
        <p:spPr>
          <a:xfrm>
            <a:off x="1952089" y="0"/>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INVENTORY WINDOW</a:t>
            </a:r>
            <a:endParaRPr lang="en-IN" sz="4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 xmlns:a16="http://schemas.microsoft.com/office/drawing/2014/main" id="{4AB75BA0-DEBC-38C9-4548-6B8B3E17FE20}"/>
              </a:ext>
            </a:extLst>
          </p:cNvPr>
          <p:cNvPicPr>
            <a:picLocks noChangeAspect="1"/>
          </p:cNvPicPr>
          <p:nvPr/>
        </p:nvPicPr>
        <p:blipFill>
          <a:blip r:embed="rId2" cstate="print"/>
          <a:stretch>
            <a:fillRect/>
          </a:stretch>
        </p:blipFill>
        <p:spPr>
          <a:xfrm>
            <a:off x="6797960" y="1750059"/>
            <a:ext cx="5010150" cy="4147307"/>
          </a:xfrm>
          <a:prstGeom prst="rect">
            <a:avLst/>
          </a:prstGeom>
        </p:spPr>
      </p:pic>
      <p:sp>
        <p:nvSpPr>
          <p:cNvPr id="5" name="TextBox 4">
            <a:extLst>
              <a:ext uri="{FF2B5EF4-FFF2-40B4-BE49-F238E27FC236}">
                <a16:creationId xmlns="" xmlns:a16="http://schemas.microsoft.com/office/drawing/2014/main" id="{31EC00B7-D4EB-4F3C-0EE6-BC562D67D992}"/>
              </a:ext>
            </a:extLst>
          </p:cNvPr>
          <p:cNvSpPr txBox="1"/>
          <p:nvPr/>
        </p:nvSpPr>
        <p:spPr>
          <a:xfrm>
            <a:off x="476357" y="1306772"/>
            <a:ext cx="6097712" cy="5033879"/>
          </a:xfrm>
          <a:prstGeom prst="rect">
            <a:avLst/>
          </a:prstGeom>
          <a:noFill/>
        </p:spPr>
        <p:txBody>
          <a:bodyPr wrap="square">
            <a:spAutoFit/>
          </a:bodyPr>
          <a:lstStyle/>
          <a:p>
            <a:pPr>
              <a:lnSpc>
                <a:spcPct val="150000"/>
              </a:lnSpc>
            </a:pPr>
            <a:r>
              <a:rPr lang="en-IN" sz="1800" dirty="0">
                <a:effectLst/>
                <a:latin typeface="Times New Roman" panose="02020603050405020304" pitchFamily="18" charset="0"/>
                <a:ea typeface="Calibri" panose="020F0502020204030204" pitchFamily="34" charset="0"/>
              </a:rPr>
              <a:t>The Inventory Window is one of the most crucial modules in the Pharma Hub system, designed to handle all aspects of inventory management. It displays the current list of medicines available in the store, along with details such as price. The window employs a </a:t>
            </a:r>
            <a:r>
              <a:rPr lang="en-IN" sz="1800" dirty="0" err="1">
                <a:effectLst/>
                <a:latin typeface="Times New Roman" panose="02020603050405020304" pitchFamily="18" charset="0"/>
                <a:ea typeface="Calibri" panose="020F0502020204030204" pitchFamily="34" charset="0"/>
              </a:rPr>
              <a:t>JList</a:t>
            </a:r>
            <a:r>
              <a:rPr lang="en-IN" sz="1800" dirty="0">
                <a:effectLst/>
                <a:latin typeface="Times New Roman" panose="02020603050405020304" pitchFamily="18" charset="0"/>
                <a:ea typeface="Calibri" panose="020F0502020204030204" pitchFamily="34" charset="0"/>
              </a:rPr>
              <a:t> component to show the medicines in a scrollable format, while a </a:t>
            </a:r>
            <a:r>
              <a:rPr lang="en-IN" sz="1800" dirty="0" err="1">
                <a:effectLst/>
                <a:latin typeface="Times New Roman" panose="02020603050405020304" pitchFamily="18" charset="0"/>
                <a:ea typeface="Calibri" panose="020F0502020204030204" pitchFamily="34" charset="0"/>
              </a:rPr>
              <a:t>DefaultListModel</a:t>
            </a:r>
            <a:r>
              <a:rPr lang="en-IN" sz="1800" dirty="0">
                <a:effectLst/>
                <a:latin typeface="Times New Roman" panose="02020603050405020304" pitchFamily="18" charset="0"/>
                <a:ea typeface="Calibri" panose="020F0502020204030204" pitchFamily="34" charset="0"/>
              </a:rPr>
              <a:t> dynamically updates the list whenever changes are made. The design includes a real-time search feature, allowing users to quickly locate medicines by typing partial or full names into a search bar. This enhances user efficiency and eliminates the need for manual scrolling through long lists.</a:t>
            </a:r>
            <a:r>
              <a:rPr lang="en-IN" dirty="0"/>
              <a:t> </a:t>
            </a:r>
            <a:r>
              <a:rPr lang="en-IN" dirty="0">
                <a:latin typeface="Times New Roman" panose="02020603050405020304" pitchFamily="18" charset="0"/>
                <a:cs typeface="Times New Roman" panose="02020603050405020304" pitchFamily="18" charset="0"/>
              </a:rPr>
              <a:t>The Inventory Window also supports CRUD (Create, Read, Update, Delete) operations</a:t>
            </a:r>
            <a:r>
              <a:rPr lang="en-IN" dirty="0"/>
              <a:t>. </a:t>
            </a:r>
          </a:p>
        </p:txBody>
      </p:sp>
    </p:spTree>
    <p:extLst>
      <p:ext uri="{BB962C8B-B14F-4D97-AF65-F5344CB8AC3E}">
        <p14:creationId xmlns="" xmlns:p14="http://schemas.microsoft.com/office/powerpoint/2010/main" val="2146168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4C764AD2-F98A-D11E-93A4-60673005509B}"/>
              </a:ext>
            </a:extLst>
          </p:cNvPr>
          <p:cNvSpPr/>
          <p:nvPr/>
        </p:nvSpPr>
        <p:spPr>
          <a:xfrm>
            <a:off x="1952089" y="0"/>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ADD ITEM WINDOW</a:t>
            </a:r>
            <a:endParaRPr lang="en-IN" sz="4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 xmlns:a16="http://schemas.microsoft.com/office/drawing/2014/main" id="{4A6D3C65-6327-237B-92AB-D80FC992DEA7}"/>
              </a:ext>
            </a:extLst>
          </p:cNvPr>
          <p:cNvPicPr>
            <a:picLocks noChangeAspect="1"/>
          </p:cNvPicPr>
          <p:nvPr/>
        </p:nvPicPr>
        <p:blipFill>
          <a:blip r:embed="rId2" cstate="print"/>
          <a:stretch>
            <a:fillRect/>
          </a:stretch>
        </p:blipFill>
        <p:spPr>
          <a:xfrm>
            <a:off x="6886682" y="1634768"/>
            <a:ext cx="4953000" cy="4272872"/>
          </a:xfrm>
          <a:prstGeom prst="rect">
            <a:avLst/>
          </a:prstGeom>
        </p:spPr>
      </p:pic>
      <p:sp>
        <p:nvSpPr>
          <p:cNvPr id="5" name="TextBox 4">
            <a:extLst>
              <a:ext uri="{FF2B5EF4-FFF2-40B4-BE49-F238E27FC236}">
                <a16:creationId xmlns="" xmlns:a16="http://schemas.microsoft.com/office/drawing/2014/main" id="{A654FF5E-2925-68AC-179C-3F04F899AB96}"/>
              </a:ext>
            </a:extLst>
          </p:cNvPr>
          <p:cNvSpPr txBox="1"/>
          <p:nvPr/>
        </p:nvSpPr>
        <p:spPr>
          <a:xfrm>
            <a:off x="665252" y="1877512"/>
            <a:ext cx="6097712" cy="3787383"/>
          </a:xfrm>
          <a:prstGeom prst="rect">
            <a:avLst/>
          </a:prstGeom>
          <a:noFill/>
        </p:spPr>
        <p:txBody>
          <a:bodyPr wrap="square">
            <a:spAutoFit/>
          </a:bodyPr>
          <a:lstStyle/>
          <a:p>
            <a:pPr>
              <a:lnSpc>
                <a:spcPct val="150000"/>
              </a:lnSpc>
            </a:pPr>
            <a:r>
              <a:rPr lang="en-IN" sz="1800" dirty="0">
                <a:effectLst/>
                <a:latin typeface="Times New Roman" panose="02020603050405020304" pitchFamily="18" charset="0"/>
                <a:ea typeface="Calibri" panose="020F0502020204030204" pitchFamily="34" charset="0"/>
              </a:rPr>
              <a:t>The Add Item Window module allows the admin to introduce new medicines into the inventory. Its design follows a simple, grid-based layout with </a:t>
            </a:r>
            <a:r>
              <a:rPr lang="en-IN" sz="1800" dirty="0" err="1">
                <a:effectLst/>
                <a:latin typeface="Times New Roman" panose="02020603050405020304" pitchFamily="18" charset="0"/>
                <a:ea typeface="Calibri" panose="020F0502020204030204" pitchFamily="34" charset="0"/>
              </a:rPr>
              <a:t>labeled</a:t>
            </a:r>
            <a:r>
              <a:rPr lang="en-IN" sz="1800" dirty="0">
                <a:effectLst/>
                <a:latin typeface="Times New Roman" panose="02020603050405020304" pitchFamily="18" charset="0"/>
                <a:ea typeface="Calibri" panose="020F0502020204030204" pitchFamily="34" charset="0"/>
              </a:rPr>
              <a:t> text fields for each attribute — name, quantity, price, manufacture date, and expiry date. A dedicated “Add” button processes the input, validates the data, and updates the centralized inventory list. The window also includes a status label that provides immediate feedback to the user, such as “Item Added Successfully” or “Error: Invalid Input.” </a:t>
            </a:r>
            <a:endParaRPr lang="en-IN" dirty="0"/>
          </a:p>
        </p:txBody>
      </p:sp>
    </p:spTree>
    <p:extLst>
      <p:ext uri="{BB962C8B-B14F-4D97-AF65-F5344CB8AC3E}">
        <p14:creationId xmlns="" xmlns:p14="http://schemas.microsoft.com/office/powerpoint/2010/main" val="2045839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55A35B6-5DE6-1CAF-C1D0-44F1D9D06899}"/>
              </a:ext>
            </a:extLst>
          </p:cNvPr>
          <p:cNvSpPr/>
          <p:nvPr/>
        </p:nvSpPr>
        <p:spPr>
          <a:xfrm>
            <a:off x="1952089" y="0"/>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BILLING WINDOW</a:t>
            </a:r>
            <a:endParaRPr lang="en-IN" sz="4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A505BE66-0001-2801-FBE6-B9CDF4801917}"/>
              </a:ext>
            </a:extLst>
          </p:cNvPr>
          <p:cNvPicPr>
            <a:picLocks noChangeAspect="1"/>
          </p:cNvPicPr>
          <p:nvPr/>
        </p:nvPicPr>
        <p:blipFill>
          <a:blip r:embed="rId2" cstate="print"/>
          <a:stretch>
            <a:fillRect/>
          </a:stretch>
        </p:blipFill>
        <p:spPr>
          <a:xfrm>
            <a:off x="6096000" y="1501111"/>
            <a:ext cx="5731510" cy="4622287"/>
          </a:xfrm>
          <a:prstGeom prst="rect">
            <a:avLst/>
          </a:prstGeom>
        </p:spPr>
      </p:pic>
      <p:sp>
        <p:nvSpPr>
          <p:cNvPr id="7" name="TextBox 6">
            <a:extLst>
              <a:ext uri="{FF2B5EF4-FFF2-40B4-BE49-F238E27FC236}">
                <a16:creationId xmlns="" xmlns:a16="http://schemas.microsoft.com/office/drawing/2014/main" id="{64C9D345-8ADB-AECA-1FE0-4A59A13CE663}"/>
              </a:ext>
            </a:extLst>
          </p:cNvPr>
          <p:cNvSpPr txBox="1"/>
          <p:nvPr/>
        </p:nvSpPr>
        <p:spPr>
          <a:xfrm>
            <a:off x="364490" y="1953569"/>
            <a:ext cx="5553425" cy="3373359"/>
          </a:xfrm>
          <a:prstGeom prst="rect">
            <a:avLst/>
          </a:prstGeom>
          <a:noFill/>
        </p:spPr>
        <p:txBody>
          <a:bodyPr wrap="square">
            <a:spAutoFit/>
          </a:bodyPr>
          <a:lstStyle/>
          <a:p>
            <a:pPr>
              <a:lnSpc>
                <a:spcPct val="150000"/>
              </a:lnSpc>
            </a:pPr>
            <a:r>
              <a:rPr lang="en-US" dirty="0"/>
              <a:t>The </a:t>
            </a:r>
            <a:r>
              <a:rPr lang="en-US" b="1" dirty="0" err="1"/>
              <a:t>BillingWindow</a:t>
            </a:r>
            <a:r>
              <a:rPr lang="en-US" dirty="0"/>
              <a:t> handles the entire sales process — adding medicines, calculating totals with GST, collecting customer details, and generating professional invoices using </a:t>
            </a:r>
            <a:r>
              <a:rPr lang="en-US" b="1" dirty="0" err="1"/>
              <a:t>iText</a:t>
            </a:r>
            <a:r>
              <a:rPr lang="en-US" b="1" dirty="0"/>
              <a:t> PDF</a:t>
            </a:r>
            <a:r>
              <a:rPr lang="en-US" dirty="0"/>
              <a:t>, saved in a “bills” folder. It also manages </a:t>
            </a:r>
            <a:r>
              <a:rPr lang="en-US" b="1" dirty="0"/>
              <a:t>real-time stock updates</a:t>
            </a:r>
            <a:r>
              <a:rPr lang="en-US" dirty="0"/>
              <a:t>, preventing over-selling and restoring inventory when items are removed. Overall, it integrates billing, PDF generation, and inventory control in one system.</a:t>
            </a:r>
            <a:endParaRPr lang="en-IN" dirty="0"/>
          </a:p>
        </p:txBody>
      </p:sp>
    </p:spTree>
    <p:extLst>
      <p:ext uri="{BB962C8B-B14F-4D97-AF65-F5344CB8AC3E}">
        <p14:creationId xmlns="" xmlns:p14="http://schemas.microsoft.com/office/powerpoint/2010/main" val="3477569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C23D1FC8-4AD5-9936-C950-26B81DFE67F7}"/>
              </a:ext>
            </a:extLst>
          </p:cNvPr>
          <p:cNvSpPr/>
          <p:nvPr/>
        </p:nvSpPr>
        <p:spPr>
          <a:xfrm>
            <a:off x="1952089" y="0"/>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PAYMENT WINDOW</a:t>
            </a:r>
            <a:endParaRPr lang="en-IN" sz="48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 xmlns:a16="http://schemas.microsoft.com/office/drawing/2014/main" id="{65B66328-A64E-972C-07A9-5946C61F3A44}"/>
              </a:ext>
            </a:extLst>
          </p:cNvPr>
          <p:cNvPicPr>
            <a:picLocks noChangeAspect="1"/>
          </p:cNvPicPr>
          <p:nvPr/>
        </p:nvPicPr>
        <p:blipFill>
          <a:blip r:embed="rId2" cstate="print"/>
          <a:stretch>
            <a:fillRect/>
          </a:stretch>
        </p:blipFill>
        <p:spPr>
          <a:xfrm>
            <a:off x="7030788" y="1613043"/>
            <a:ext cx="4829175" cy="3863083"/>
          </a:xfrm>
          <a:prstGeom prst="rect">
            <a:avLst/>
          </a:prstGeom>
        </p:spPr>
      </p:pic>
      <p:sp>
        <p:nvSpPr>
          <p:cNvPr id="5" name="TextBox 4">
            <a:extLst>
              <a:ext uri="{FF2B5EF4-FFF2-40B4-BE49-F238E27FC236}">
                <a16:creationId xmlns="" xmlns:a16="http://schemas.microsoft.com/office/drawing/2014/main" id="{3143CA26-DF4A-2840-92B8-21E26A530F64}"/>
              </a:ext>
            </a:extLst>
          </p:cNvPr>
          <p:cNvSpPr txBox="1"/>
          <p:nvPr/>
        </p:nvSpPr>
        <p:spPr>
          <a:xfrm>
            <a:off x="809786" y="1499270"/>
            <a:ext cx="5940335" cy="4618380"/>
          </a:xfrm>
          <a:prstGeom prst="rect">
            <a:avLst/>
          </a:prstGeom>
          <a:noFill/>
        </p:spPr>
        <p:txBody>
          <a:bodyPr wrap="square">
            <a:spAutoFit/>
          </a:bodyPr>
          <a:lstStyle/>
          <a:p>
            <a:pPr>
              <a:lnSpc>
                <a:spcPct val="150000"/>
              </a:lnSpc>
            </a:pPr>
            <a:r>
              <a:rPr lang="en-IN" dirty="0">
                <a:latin typeface="Times New Roman" panose="02020603050405020304" pitchFamily="18" charset="0"/>
                <a:ea typeface="Calibri" panose="020F0502020204030204" pitchFamily="34" charset="0"/>
              </a:rPr>
              <a:t>T</a:t>
            </a:r>
            <a:r>
              <a:rPr lang="en-IN" sz="1800" dirty="0">
                <a:effectLst/>
                <a:latin typeface="Times New Roman" panose="02020603050405020304" pitchFamily="18" charset="0"/>
                <a:ea typeface="Calibri" panose="020F0502020204030204" pitchFamily="34" charset="0"/>
              </a:rPr>
              <a:t>he Payment Window, which manages the financial transaction aspect of the sale. It prompts the user to enter the amount received from the customer and automatically calculates the balance or change to be returned. The payment is currently handled in cash mode for simplicity. Once the payment is confirmed, the system calls back to the Billing Window, triggering the PDF generation process. This modular interaction between Payment Window and Billing Window exemplifies the use of callback functions to facilitate smooth inter-class communication without tightly coupling the components.</a:t>
            </a:r>
            <a:endParaRPr lang="en-IN" dirty="0"/>
          </a:p>
        </p:txBody>
      </p:sp>
    </p:spTree>
    <p:extLst>
      <p:ext uri="{BB962C8B-B14F-4D97-AF65-F5344CB8AC3E}">
        <p14:creationId xmlns="" xmlns:p14="http://schemas.microsoft.com/office/powerpoint/2010/main" val="159271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7EB291E1-4EBD-42C9-1290-0A7C8519AA01}"/>
              </a:ext>
            </a:extLst>
          </p:cNvPr>
          <p:cNvSpPr/>
          <p:nvPr/>
        </p:nvSpPr>
        <p:spPr>
          <a:xfrm>
            <a:off x="2044556" y="30822"/>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BILL IN PDF FORM </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86EC9AB0-E0DE-6883-EB7F-18C8D8773379}"/>
              </a:ext>
            </a:extLst>
          </p:cNvPr>
          <p:cNvSpPr txBox="1"/>
          <p:nvPr/>
        </p:nvSpPr>
        <p:spPr>
          <a:xfrm>
            <a:off x="301061" y="1882456"/>
            <a:ext cx="4866014" cy="3970318"/>
          </a:xfrm>
          <a:prstGeom prst="rect">
            <a:avLst/>
          </a:prstGeom>
          <a:noFill/>
        </p:spPr>
        <p:txBody>
          <a:bodyPr wrap="square">
            <a:spAutoFit/>
          </a:bodyPr>
          <a:lstStyle/>
          <a:p>
            <a:pPr>
              <a:buNone/>
            </a:pPr>
            <a:r>
              <a:rPr lang="en-US" dirty="0"/>
              <a:t>This is a sample pharmacy invoice generated automatically by the system using the </a:t>
            </a:r>
            <a:r>
              <a:rPr lang="en-US" dirty="0" err="1"/>
              <a:t>iText</a:t>
            </a:r>
            <a:r>
              <a:rPr lang="en-US" dirty="0"/>
              <a:t> PDF library. The bill includes the date and time of purchase, complete customer details such as name, father’s name, phone number, age, and address, along with the pharmacy’s GST number. It presents a neatly formatted table showing the medicine name, quantity, price, and its manufacturing and expiry dates. The invoice also calculates the subtotal, GST, total bill amount, the amount paid by the customer, and the balance or return amount. This PDF invoice ensures professional billing, accurate calculations, and proper digital recordkeeping for every transaction.</a:t>
            </a:r>
          </a:p>
        </p:txBody>
      </p:sp>
      <p:pic>
        <p:nvPicPr>
          <p:cNvPr id="9" name="Picture 8">
            <a:extLst>
              <a:ext uri="{FF2B5EF4-FFF2-40B4-BE49-F238E27FC236}">
                <a16:creationId xmlns="" xmlns:a16="http://schemas.microsoft.com/office/drawing/2014/main" id="{C67D10F2-D81B-583B-CD48-DC28B78DFC61}"/>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167075" y="1397286"/>
            <a:ext cx="6884511" cy="4705564"/>
          </a:xfrm>
          <a:prstGeom prst="rect">
            <a:avLst/>
          </a:prstGeom>
        </p:spPr>
      </p:pic>
    </p:spTree>
    <p:extLst>
      <p:ext uri="{BB962C8B-B14F-4D97-AF65-F5344CB8AC3E}">
        <p14:creationId xmlns="" xmlns:p14="http://schemas.microsoft.com/office/powerpoint/2010/main" val="2866310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0523B8BC-205F-0B1B-AF66-FD969E08D90F}"/>
              </a:ext>
            </a:extLst>
          </p:cNvPr>
          <p:cNvSpPr/>
          <p:nvPr/>
        </p:nvSpPr>
        <p:spPr>
          <a:xfrm>
            <a:off x="1952089" y="1"/>
            <a:ext cx="7900827" cy="1129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TECHNOLOGIES USED  </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 xmlns:a16="http://schemas.microsoft.com/office/drawing/2014/main" id="{B63C003B-58C5-4F73-DA8A-051842350591}"/>
              </a:ext>
            </a:extLst>
          </p:cNvPr>
          <p:cNvSpPr/>
          <p:nvPr/>
        </p:nvSpPr>
        <p:spPr>
          <a:xfrm>
            <a:off x="3677294" y="1129300"/>
            <a:ext cx="4335695" cy="76028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PHARMA HUB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 xmlns:a16="http://schemas.microsoft.com/office/drawing/2014/main" id="{5AA94539-0254-C43B-8BE1-A1E87E916DBF}"/>
              </a:ext>
            </a:extLst>
          </p:cNvPr>
          <p:cNvSpPr/>
          <p:nvPr/>
        </p:nvSpPr>
        <p:spPr>
          <a:xfrm>
            <a:off x="3357938" y="2464082"/>
            <a:ext cx="2411002" cy="76028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 JAVA SWING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B88C858E-0A3A-CA09-5601-A228595EF04F}"/>
              </a:ext>
            </a:extLst>
          </p:cNvPr>
          <p:cNvSpPr/>
          <p:nvPr/>
        </p:nvSpPr>
        <p:spPr>
          <a:xfrm>
            <a:off x="6489845" y="2464080"/>
            <a:ext cx="2411002" cy="76028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EVENT HANDLING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 xmlns:a16="http://schemas.microsoft.com/office/drawing/2014/main" id="{2ABDD239-BB4F-3FB1-911D-2FB3DE1E1F23}"/>
              </a:ext>
            </a:extLst>
          </p:cNvPr>
          <p:cNvSpPr/>
          <p:nvPr/>
        </p:nvSpPr>
        <p:spPr>
          <a:xfrm>
            <a:off x="9621752" y="2464079"/>
            <a:ext cx="2411002" cy="76028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 ITEXT LIBRARY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 xmlns:a16="http://schemas.microsoft.com/office/drawing/2014/main" id="{CA84448E-63BE-6AEB-37B1-9F873F3F66D2}"/>
              </a:ext>
            </a:extLst>
          </p:cNvPr>
          <p:cNvSpPr/>
          <p:nvPr/>
        </p:nvSpPr>
        <p:spPr>
          <a:xfrm>
            <a:off x="3357938" y="3542869"/>
            <a:ext cx="2411002" cy="331513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USED TO BUILT ALL APPLICATION WINDOWS</a:t>
            </a:r>
          </a:p>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CUSTOM BACKGROUND PANELS FOR BETTER UI</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 xmlns:a16="http://schemas.microsoft.com/office/drawing/2014/main" id="{892F0482-21AE-51D7-6DF3-82D47EE1D719}"/>
              </a:ext>
            </a:extLst>
          </p:cNvPr>
          <p:cNvSpPr/>
          <p:nvPr/>
        </p:nvSpPr>
        <p:spPr>
          <a:xfrm>
            <a:off x="6489845" y="3542871"/>
            <a:ext cx="2411002" cy="331513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ACTION LISTENER FOR BUTTON CLICKS</a:t>
            </a:r>
          </a:p>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ENABLES DYNAMIC AND INTERACTIVE USER ACTIONS </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 xmlns:a16="http://schemas.microsoft.com/office/drawing/2014/main" id="{9367E416-2A06-1C09-A602-0677E5622C6E}"/>
              </a:ext>
            </a:extLst>
          </p:cNvPr>
          <p:cNvSpPr/>
          <p:nvPr/>
        </p:nvSpPr>
        <p:spPr>
          <a:xfrm>
            <a:off x="9780998" y="3542869"/>
            <a:ext cx="2251756" cy="331513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GENERATES PROFESSIONAL INVOICES PDFs</a:t>
            </a:r>
          </a:p>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INCLUDES MEDICINES ,GST,TOTALS, CUSTOMER DETAILS</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 xmlns:a16="http://schemas.microsoft.com/office/drawing/2014/main" id="{A50B26F1-866F-6C33-4BF0-58056490F3C7}"/>
              </a:ext>
            </a:extLst>
          </p:cNvPr>
          <p:cNvCxnSpPr>
            <a:cxnSpLocks/>
            <a:stCxn id="3" idx="2"/>
          </p:cNvCxnSpPr>
          <p:nvPr/>
        </p:nvCxnSpPr>
        <p:spPr>
          <a:xfrm flipH="1">
            <a:off x="1180674" y="1889587"/>
            <a:ext cx="4664468" cy="574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 xmlns:a16="http://schemas.microsoft.com/office/drawing/2014/main" id="{61745BCD-6965-8E20-E4F6-E67773919300}"/>
              </a:ext>
            </a:extLst>
          </p:cNvPr>
          <p:cNvCxnSpPr>
            <a:cxnSpLocks/>
            <a:stCxn id="3" idx="2"/>
            <a:endCxn id="4" idx="0"/>
          </p:cNvCxnSpPr>
          <p:nvPr/>
        </p:nvCxnSpPr>
        <p:spPr>
          <a:xfrm flipH="1">
            <a:off x="4563439" y="1889587"/>
            <a:ext cx="1281703" cy="5744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 xmlns:a16="http://schemas.microsoft.com/office/drawing/2014/main" id="{8AF5DF22-C6DF-BE8C-A461-73390D647DC0}"/>
              </a:ext>
            </a:extLst>
          </p:cNvPr>
          <p:cNvCxnSpPr>
            <a:cxnSpLocks/>
            <a:stCxn id="3" idx="2"/>
            <a:endCxn id="5" idx="0"/>
          </p:cNvCxnSpPr>
          <p:nvPr/>
        </p:nvCxnSpPr>
        <p:spPr>
          <a:xfrm>
            <a:off x="5845142" y="1889587"/>
            <a:ext cx="1850204" cy="5744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 xmlns:a16="http://schemas.microsoft.com/office/drawing/2014/main" id="{610B07B1-3918-EADE-0699-57D6B17B9557}"/>
              </a:ext>
            </a:extLst>
          </p:cNvPr>
          <p:cNvCxnSpPr>
            <a:cxnSpLocks/>
            <a:stCxn id="3" idx="2"/>
            <a:endCxn id="6" idx="0"/>
          </p:cNvCxnSpPr>
          <p:nvPr/>
        </p:nvCxnSpPr>
        <p:spPr>
          <a:xfrm>
            <a:off x="5845142" y="1889587"/>
            <a:ext cx="4982111" cy="5744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 xmlns:a16="http://schemas.microsoft.com/office/drawing/2014/main" id="{9DCBA8D9-BF96-1AED-94D6-38B0839B9E05}"/>
              </a:ext>
            </a:extLst>
          </p:cNvPr>
          <p:cNvCxnSpPr>
            <a:cxnSpLocks/>
          </p:cNvCxnSpPr>
          <p:nvPr/>
        </p:nvCxnSpPr>
        <p:spPr>
          <a:xfrm>
            <a:off x="1431532" y="3224365"/>
            <a:ext cx="0" cy="3390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 xmlns:a16="http://schemas.microsoft.com/office/drawing/2014/main" id="{ABC5FAD3-2695-8F53-0D20-879930B152A5}"/>
              </a:ext>
            </a:extLst>
          </p:cNvPr>
          <p:cNvCxnSpPr>
            <a:cxnSpLocks/>
            <a:endCxn id="7" idx="0"/>
          </p:cNvCxnSpPr>
          <p:nvPr/>
        </p:nvCxnSpPr>
        <p:spPr>
          <a:xfrm>
            <a:off x="4561085" y="3203818"/>
            <a:ext cx="2354" cy="3390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18D2B822-F6BD-129A-6458-1A0A55ABB65F}"/>
              </a:ext>
            </a:extLst>
          </p:cNvPr>
          <p:cNvCxnSpPr>
            <a:cxnSpLocks/>
          </p:cNvCxnSpPr>
          <p:nvPr/>
        </p:nvCxnSpPr>
        <p:spPr>
          <a:xfrm flipH="1">
            <a:off x="7692992" y="3224365"/>
            <a:ext cx="4708" cy="3185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 xmlns:a16="http://schemas.microsoft.com/office/drawing/2014/main" id="{505770CE-AB42-FC5E-83B2-0E183A4D1011}"/>
              </a:ext>
            </a:extLst>
          </p:cNvPr>
          <p:cNvCxnSpPr>
            <a:cxnSpLocks/>
          </p:cNvCxnSpPr>
          <p:nvPr/>
        </p:nvCxnSpPr>
        <p:spPr>
          <a:xfrm flipH="1">
            <a:off x="10906876" y="3224365"/>
            <a:ext cx="4708" cy="3185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 xmlns:a16="http://schemas.microsoft.com/office/drawing/2014/main" id="{156904BF-00AD-2ABF-4E46-10B7CC6D57FA}"/>
              </a:ext>
            </a:extLst>
          </p:cNvPr>
          <p:cNvSpPr/>
          <p:nvPr/>
        </p:nvSpPr>
        <p:spPr>
          <a:xfrm>
            <a:off x="226031" y="2464078"/>
            <a:ext cx="2411002" cy="76028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JAVA PROGRAMMING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 xmlns:a16="http://schemas.microsoft.com/office/drawing/2014/main" id="{89036ED2-B3F8-67DD-EC29-AD6BC3F6DB51}"/>
              </a:ext>
            </a:extLst>
          </p:cNvPr>
          <p:cNvSpPr/>
          <p:nvPr/>
        </p:nvSpPr>
        <p:spPr>
          <a:xfrm>
            <a:off x="226031" y="3542869"/>
            <a:ext cx="2702104" cy="331513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CORE LANGUAGE OF THE SYSTEM</a:t>
            </a:r>
          </a:p>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FOLLOWS OOPS CONCEPTS</a:t>
            </a:r>
          </a:p>
          <a:p>
            <a:pPr marL="285750" indent="-285750">
              <a:buFont typeface="Wingdings" panose="05000000000000000000" pitchFamily="2" charset="2"/>
              <a:buChar char="§"/>
            </a:pPr>
            <a:r>
              <a:rPr lang="en-US" dirty="0">
                <a:solidFill>
                  <a:schemeClr val="tx1"/>
                </a:solidFill>
                <a:latin typeface="Times New Roman" panose="02020603050405020304" pitchFamily="18" charset="0"/>
                <a:cs typeface="Times New Roman" panose="02020603050405020304" pitchFamily="18" charset="0"/>
              </a:rPr>
              <a:t>PLATFORM INDEPENDENT THROUGH JVM</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336900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 xmlns:a16="http://schemas.microsoft.com/office/drawing/2014/main" id="{2D4B7D36-C351-8134-0838-78BB5471DCBC}"/>
              </a:ext>
            </a:extLst>
          </p:cNvPr>
          <p:cNvSpPr/>
          <p:nvPr/>
        </p:nvSpPr>
        <p:spPr>
          <a:xfrm>
            <a:off x="6935056" y="1488268"/>
            <a:ext cx="4756935" cy="4253501"/>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600" b="1" dirty="0">
                <a:solidFill>
                  <a:schemeClr val="bg2"/>
                </a:solidFill>
                <a:latin typeface="Times New Roman" panose="02020603050405020304" pitchFamily="18" charset="0"/>
                <a:cs typeface="Times New Roman" panose="02020603050405020304" pitchFamily="18" charset="0"/>
              </a:rPr>
              <a:t>ADVANTAGES</a:t>
            </a:r>
            <a:endParaRPr lang="en-IN" sz="3600" b="1" dirty="0">
              <a:solidFill>
                <a:schemeClr val="bg2"/>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 xmlns:a16="http://schemas.microsoft.com/office/drawing/2014/main" id="{955B1912-ACDC-BAB4-36A6-D3D06765899F}"/>
              </a:ext>
            </a:extLst>
          </p:cNvPr>
          <p:cNvSpPr/>
          <p:nvPr/>
        </p:nvSpPr>
        <p:spPr>
          <a:xfrm>
            <a:off x="2024008" y="-12843"/>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ADVANTAGES</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 xmlns:a16="http://schemas.microsoft.com/office/drawing/2014/main" id="{46BAB474-1977-85AD-0BC0-D035C7DF2CBC}"/>
              </a:ext>
            </a:extLst>
          </p:cNvPr>
          <p:cNvSpPr>
            <a:spLocks noChangeArrowheads="1"/>
          </p:cNvSpPr>
          <p:nvPr/>
        </p:nvSpPr>
        <p:spPr bwMode="auto">
          <a:xfrm>
            <a:off x="616450" y="1262236"/>
            <a:ext cx="5777501" cy="50270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Real-Time Inventory Updates</a:t>
            </a:r>
            <a:r>
              <a:rPr kumimoji="0" lang="en-US" altLang="en-US" b="0" i="0" u="none" strike="noStrike" cap="none" normalizeH="0" baseline="0" dirty="0">
                <a:ln>
                  <a:noFill/>
                </a:ln>
                <a:solidFill>
                  <a:schemeClr val="tx1"/>
                </a:solidFill>
                <a:effectLst/>
                <a:latin typeface="Arial" panose="020B0604020202020204" pitchFamily="34" charset="0"/>
              </a:rPr>
              <a:t> – Stock instantly increases or decreases based on sales and cart actions.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Professional PDF Invoice Generation</a:t>
            </a:r>
            <a:r>
              <a:rPr kumimoji="0" lang="en-US" altLang="en-US" b="0" i="0" u="none" strike="noStrike" cap="none" normalizeH="0" baseline="0" dirty="0">
                <a:ln>
                  <a:noFill/>
                </a:ln>
                <a:solidFill>
                  <a:schemeClr val="tx1"/>
                </a:solidFill>
                <a:effectLst/>
                <a:latin typeface="Arial" panose="020B0604020202020204" pitchFamily="34" charset="0"/>
              </a:rPr>
              <a:t> – Creates clean, detailed bills using the </a:t>
            </a:r>
            <a:r>
              <a:rPr kumimoji="0" lang="en-US" altLang="en-US" b="0" i="0" u="none" strike="noStrike" cap="none" normalizeH="0" baseline="0" dirty="0" err="1">
                <a:ln>
                  <a:noFill/>
                </a:ln>
                <a:solidFill>
                  <a:schemeClr val="tx1"/>
                </a:solidFill>
                <a:effectLst/>
                <a:latin typeface="Arial" panose="020B0604020202020204" pitchFamily="34" charset="0"/>
              </a:rPr>
              <a:t>iText</a:t>
            </a:r>
            <a:r>
              <a:rPr kumimoji="0" lang="en-US" altLang="en-US" b="0" i="0" u="none" strike="noStrike" cap="none" normalizeH="0" baseline="0" dirty="0">
                <a:ln>
                  <a:noFill/>
                </a:ln>
                <a:solidFill>
                  <a:schemeClr val="tx1"/>
                </a:solidFill>
                <a:effectLst/>
                <a:latin typeface="Arial" panose="020B0604020202020204" pitchFamily="34" charset="0"/>
              </a:rPr>
              <a:t> library.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User-Friendly Interface</a:t>
            </a:r>
            <a:r>
              <a:rPr kumimoji="0" lang="en-US" altLang="en-US" b="0" i="0" u="none" strike="noStrike" cap="none" normalizeH="0" baseline="0" dirty="0">
                <a:ln>
                  <a:noFill/>
                </a:ln>
                <a:solidFill>
                  <a:schemeClr val="tx1"/>
                </a:solidFill>
                <a:effectLst/>
                <a:latin typeface="Arial" panose="020B0604020202020204" pitchFamily="34" charset="0"/>
              </a:rPr>
              <a:t> – Simple and easy-to-use Java Swing GUI for smooth operation.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Secure User Authentication</a:t>
            </a:r>
            <a:r>
              <a:rPr kumimoji="0" lang="en-US" altLang="en-US" b="0" i="0" u="none" strike="noStrike" cap="none" normalizeH="0" baseline="0" dirty="0">
                <a:ln>
                  <a:noFill/>
                </a:ln>
                <a:solidFill>
                  <a:schemeClr val="tx1"/>
                </a:solidFill>
                <a:effectLst/>
                <a:latin typeface="Arial" panose="020B0604020202020204" pitchFamily="34" charset="0"/>
              </a:rPr>
              <a:t> – Only authorized users can log in and access system features.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Fast and Accurate Billing</a:t>
            </a:r>
            <a:r>
              <a:rPr kumimoji="0" lang="en-US" altLang="en-US" b="0" i="0" u="none" strike="noStrike" cap="none" normalizeH="0" baseline="0" dirty="0">
                <a:ln>
                  <a:noFill/>
                </a:ln>
                <a:solidFill>
                  <a:schemeClr val="tx1"/>
                </a:solidFill>
                <a:effectLst/>
                <a:latin typeface="Arial" panose="020B0604020202020204" pitchFamily="34" charset="0"/>
              </a:rPr>
              <a:t> – Automatically calculates totals, GST, and balance, reducing human errors.</a:t>
            </a:r>
          </a:p>
        </p:txBody>
      </p:sp>
    </p:spTree>
    <p:extLst>
      <p:ext uri="{BB962C8B-B14F-4D97-AF65-F5344CB8AC3E}">
        <p14:creationId xmlns="" xmlns:p14="http://schemas.microsoft.com/office/powerpoint/2010/main" val="1158383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35B2D2B9-173A-FAFB-D6E7-AA79D4F93241}"/>
              </a:ext>
            </a:extLst>
          </p:cNvPr>
          <p:cNvSpPr/>
          <p:nvPr/>
        </p:nvSpPr>
        <p:spPr>
          <a:xfrm>
            <a:off x="2024008" y="-12843"/>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DISADVANTAGES</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 xmlns:a16="http://schemas.microsoft.com/office/drawing/2014/main" id="{821AFDED-74F6-FDBE-7B9B-89A4DC19726E}"/>
              </a:ext>
            </a:extLst>
          </p:cNvPr>
          <p:cNvSpPr/>
          <p:nvPr/>
        </p:nvSpPr>
        <p:spPr>
          <a:xfrm>
            <a:off x="6935056" y="1488268"/>
            <a:ext cx="4756935" cy="4253501"/>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b="1" dirty="0">
                <a:solidFill>
                  <a:schemeClr val="bg2"/>
                </a:solidFill>
                <a:latin typeface="Times New Roman" panose="02020603050405020304" pitchFamily="18" charset="0"/>
                <a:cs typeface="Times New Roman" panose="02020603050405020304" pitchFamily="18" charset="0"/>
              </a:rPr>
              <a:t>DISADVANTAGES</a:t>
            </a:r>
            <a:endParaRPr lang="en-IN" sz="2800" b="1"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10B20681-B8BC-69BC-F6DF-4DB0DAA788DC}"/>
              </a:ext>
            </a:extLst>
          </p:cNvPr>
          <p:cNvSpPr>
            <a:spLocks noChangeArrowheads="1"/>
          </p:cNvSpPr>
          <p:nvPr/>
        </p:nvSpPr>
        <p:spPr bwMode="auto">
          <a:xfrm>
            <a:off x="365764" y="1517606"/>
            <a:ext cx="6076134" cy="46115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No Permanent Database</a:t>
            </a:r>
            <a:r>
              <a:rPr kumimoji="0" lang="en-US" altLang="en-US" b="0" i="0" u="none" strike="noStrike" cap="none" normalizeH="0" baseline="0" dirty="0">
                <a:ln>
                  <a:noFill/>
                </a:ln>
                <a:solidFill>
                  <a:schemeClr val="tx1"/>
                </a:solidFill>
                <a:effectLst/>
                <a:latin typeface="Arial" panose="020B0604020202020204" pitchFamily="34" charset="0"/>
              </a:rPr>
              <a:t> – Uses in-memory storage, so data is lost when the application closes.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Single-System Usage</a:t>
            </a:r>
            <a:r>
              <a:rPr kumimoji="0" lang="en-US" altLang="en-US" b="0" i="0" u="none" strike="noStrike" cap="none" normalizeH="0" baseline="0" dirty="0">
                <a:ln>
                  <a:noFill/>
                </a:ln>
                <a:solidFill>
                  <a:schemeClr val="tx1"/>
                </a:solidFill>
                <a:effectLst/>
                <a:latin typeface="Arial" panose="020B0604020202020204" pitchFamily="34" charset="0"/>
              </a:rPr>
              <a:t> – Cannot be accessed from multiple computers at the same time.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Limited Scalability</a:t>
            </a:r>
            <a:r>
              <a:rPr kumimoji="0" lang="en-US" altLang="en-US" b="0" i="0" u="none" strike="noStrike" cap="none" normalizeH="0" baseline="0" dirty="0">
                <a:ln>
                  <a:noFill/>
                </a:ln>
                <a:solidFill>
                  <a:schemeClr val="tx1"/>
                </a:solidFill>
                <a:effectLst/>
                <a:latin typeface="Arial" panose="020B0604020202020204" pitchFamily="34" charset="0"/>
              </a:rPr>
              <a:t> – Not suitable for large pharmacies with high-volume inventory.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Requires Java Installation</a:t>
            </a:r>
            <a:r>
              <a:rPr kumimoji="0" lang="en-US" altLang="en-US" b="0" i="0" u="none" strike="noStrike" cap="none" normalizeH="0" baseline="0" dirty="0">
                <a:ln>
                  <a:noFill/>
                </a:ln>
                <a:solidFill>
                  <a:schemeClr val="tx1"/>
                </a:solidFill>
                <a:effectLst/>
                <a:latin typeface="Arial" panose="020B0604020202020204" pitchFamily="34" charset="0"/>
              </a:rPr>
              <a:t> – The system runs only on devices with Java and the required libraries installed.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panose="020B0604020202020204" pitchFamily="34" charset="0"/>
              </a:rPr>
              <a:t>No Cloud Backup</a:t>
            </a:r>
            <a:r>
              <a:rPr kumimoji="0" lang="en-US" altLang="en-US" b="0" i="0" u="none" strike="noStrike" cap="none" normalizeH="0" baseline="0" dirty="0">
                <a:ln>
                  <a:noFill/>
                </a:ln>
                <a:solidFill>
                  <a:schemeClr val="tx1"/>
                </a:solidFill>
                <a:effectLst/>
                <a:latin typeface="Arial" panose="020B0604020202020204" pitchFamily="34" charset="0"/>
              </a:rPr>
              <a:t> – Bills and data are stored locally, risking data loss if the system crashes.</a:t>
            </a:r>
          </a:p>
        </p:txBody>
      </p:sp>
    </p:spTree>
    <p:extLst>
      <p:ext uri="{BB962C8B-B14F-4D97-AF65-F5344CB8AC3E}">
        <p14:creationId xmlns="" xmlns:p14="http://schemas.microsoft.com/office/powerpoint/2010/main" val="3472090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20789EF-A999-0041-D1CF-F7774B0A6706}"/>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590928" y="2170892"/>
            <a:ext cx="4058216" cy="3377153"/>
          </a:xfrm>
          <a:prstGeom prst="rect">
            <a:avLst/>
          </a:prstGeom>
        </p:spPr>
      </p:pic>
      <p:sp>
        <p:nvSpPr>
          <p:cNvPr id="4" name="Rectangle 3">
            <a:extLst>
              <a:ext uri="{FF2B5EF4-FFF2-40B4-BE49-F238E27FC236}">
                <a16:creationId xmlns="" xmlns:a16="http://schemas.microsoft.com/office/drawing/2014/main" id="{5DA1863F-68FA-A2F1-DA2F-2D607DEEFA60}"/>
              </a:ext>
            </a:extLst>
          </p:cNvPr>
          <p:cNvSpPr/>
          <p:nvPr/>
        </p:nvSpPr>
        <p:spPr>
          <a:xfrm>
            <a:off x="2034282" y="32783"/>
            <a:ext cx="7900827" cy="1275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Times New Roman" panose="02020603050405020304" pitchFamily="18" charset="0"/>
                <a:cs typeface="Times New Roman" panose="02020603050405020304" pitchFamily="18" charset="0"/>
              </a:rPr>
              <a:t>FUTURE SCOPE</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 xmlns:a16="http://schemas.microsoft.com/office/drawing/2014/main" id="{69EAE524-664C-C1B9-440E-B23DFF5078A0}"/>
              </a:ext>
            </a:extLst>
          </p:cNvPr>
          <p:cNvSpPr>
            <a:spLocks noChangeArrowheads="1"/>
          </p:cNvSpPr>
          <p:nvPr/>
        </p:nvSpPr>
        <p:spPr bwMode="auto">
          <a:xfrm rot="10800000" flipV="1">
            <a:off x="195209" y="1761458"/>
            <a:ext cx="7078894" cy="41960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Add a Permanent Database</a:t>
            </a:r>
            <a:r>
              <a:rPr kumimoji="0" lang="en-US" altLang="en-US" sz="1800" b="0" i="0" u="none" strike="noStrike" cap="none" normalizeH="0" baseline="0" dirty="0">
                <a:ln>
                  <a:noFill/>
                </a:ln>
                <a:solidFill>
                  <a:schemeClr val="tx1"/>
                </a:solidFill>
                <a:effectLst/>
                <a:latin typeface="Arial" panose="020B0604020202020204" pitchFamily="34" charset="0"/>
              </a:rPr>
              <a:t> – Use MySQL or PostgreSQL to store data safely and avoid loss when the system closes.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Implement Cloud Support</a:t>
            </a:r>
            <a:r>
              <a:rPr kumimoji="0" lang="en-US" altLang="en-US" sz="1800" b="0" i="0" u="none" strike="noStrike" cap="none" normalizeH="0" baseline="0" dirty="0">
                <a:ln>
                  <a:noFill/>
                </a:ln>
                <a:solidFill>
                  <a:schemeClr val="tx1"/>
                </a:solidFill>
                <a:effectLst/>
                <a:latin typeface="Arial" panose="020B0604020202020204" pitchFamily="34" charset="0"/>
              </a:rPr>
              <a:t> – Allow multiple computers and branches to access the same pharmacy data in real time.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Introduce Barcode/QR Scanning</a:t>
            </a:r>
            <a:r>
              <a:rPr kumimoji="0" lang="en-US" altLang="en-US" sz="1800" b="0" i="0" u="none" strike="noStrike" cap="none" normalizeH="0" baseline="0" dirty="0">
                <a:ln>
                  <a:noFill/>
                </a:ln>
                <a:solidFill>
                  <a:schemeClr val="tx1"/>
                </a:solidFill>
                <a:effectLst/>
                <a:latin typeface="Arial" panose="020B0604020202020204" pitchFamily="34" charset="0"/>
              </a:rPr>
              <a:t> – Speed up billing and reduce manual typing by scanning medicine codes.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Add Low-Stock &amp; Expiry Alerts</a:t>
            </a:r>
            <a:r>
              <a:rPr kumimoji="0" lang="en-US" altLang="en-US" sz="1800" b="0" i="0" u="none" strike="noStrike" cap="none" normalizeH="0" baseline="0" dirty="0">
                <a:ln>
                  <a:noFill/>
                </a:ln>
                <a:solidFill>
                  <a:schemeClr val="tx1"/>
                </a:solidFill>
                <a:effectLst/>
                <a:latin typeface="Arial" panose="020B0604020202020204" pitchFamily="34" charset="0"/>
              </a:rPr>
              <a:t> – Notify the pharmacist automatically about items that are about to expire or finish.</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Develop a Mobile App/Online Ordering System</a:t>
            </a:r>
            <a:r>
              <a:rPr kumimoji="0" lang="en-US" altLang="en-US" sz="1800" b="0" i="0" u="none" strike="noStrike" cap="none" normalizeH="0" baseline="0" dirty="0">
                <a:ln>
                  <a:noFill/>
                </a:ln>
                <a:solidFill>
                  <a:schemeClr val="tx1"/>
                </a:solidFill>
                <a:effectLst/>
                <a:latin typeface="Arial" panose="020B0604020202020204" pitchFamily="34" charset="0"/>
              </a:rPr>
              <a:t> – Allow customers to order medicines online and check availability.</a:t>
            </a:r>
          </a:p>
        </p:txBody>
      </p:sp>
    </p:spTree>
    <p:extLst>
      <p:ext uri="{BB962C8B-B14F-4D97-AF65-F5344CB8AC3E}">
        <p14:creationId xmlns="" xmlns:p14="http://schemas.microsoft.com/office/powerpoint/2010/main" val="318048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790ADC0C-10D8-03DC-EFD9-B6DBA9B2E30F}"/>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969752" y="1889674"/>
            <a:ext cx="8252495" cy="3078651"/>
          </a:xfrm>
          <a:prstGeom prst="rect">
            <a:avLst/>
          </a:prstGeom>
        </p:spPr>
      </p:pic>
    </p:spTree>
    <p:extLst>
      <p:ext uri="{BB962C8B-B14F-4D97-AF65-F5344CB8AC3E}">
        <p14:creationId xmlns="" xmlns:p14="http://schemas.microsoft.com/office/powerpoint/2010/main" val="1846879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216A4E99-2E35-6D49-BA5C-36416321C827}"/>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965515" y="1342010"/>
            <a:ext cx="6260969" cy="4173979"/>
          </a:xfrm>
          <a:prstGeom prst="rect">
            <a:avLst/>
          </a:prstGeom>
        </p:spPr>
      </p:pic>
    </p:spTree>
    <p:extLst>
      <p:ext uri="{BB962C8B-B14F-4D97-AF65-F5344CB8AC3E}">
        <p14:creationId xmlns="" xmlns:p14="http://schemas.microsoft.com/office/powerpoint/2010/main" val="3561670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1023</Words>
  <Application>Microsoft Office PowerPoint</Application>
  <PresentationFormat>Custom</PresentationFormat>
  <Paragraphs>59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PHARMA HUB</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 HUB</dc:title>
  <dc:creator>Chandandeep singh</dc:creator>
  <cp:lastModifiedBy>hp</cp:lastModifiedBy>
  <cp:revision>4</cp:revision>
  <dcterms:created xsi:type="dcterms:W3CDTF">2025-11-23T16:57:56Z</dcterms:created>
  <dcterms:modified xsi:type="dcterms:W3CDTF">2025-11-24T03:47:42Z</dcterms:modified>
</cp:coreProperties>
</file>